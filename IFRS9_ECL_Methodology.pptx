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0E0E0"/>
                </a:solidFill>
                <a:latin typeface="Arial"/>
              </a:rPr>
              <a:t>ECL by Stage x Scenario (EUR)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Adverse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828</c:v>
                </c:pt>
                <c:pt idx="1">
                  <c:v>0</c:v>
                </c:pt>
                <c:pt idx="2">
                  <c:v>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</c:v>
                </c:pt>
              </c:strCache>
            </c:strRef>
          </c:tx>
          <c:spPr>
            <a:solidFill>
              <a:srgbClr val="FFB70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Adverse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94874</c:v>
                </c:pt>
                <c:pt idx="1">
                  <c:v>480834</c:v>
                </c:pt>
                <c:pt idx="2">
                  <c:v>84333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Adverse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363090</c:v>
                </c:pt>
                <c:pt idx="1">
                  <c:v>895583</c:v>
                </c:pt>
                <c:pt idx="2">
                  <c:v>199148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0E0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434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0E0E0"/>
                </a:solidFill>
                <a:latin typeface="Arial"/>
              </a:rPr>
              <a:t>Weighted ECL vs Adverse Probability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ECL (€k)</c:v>
                </c:pt>
              </c:strCache>
            </c:strRef>
          </c:tx>
          <c:spPr>
            <a:solidFill>
              <a:srgbClr val="4895EF"/>
            </a:solidFill>
            <a:ln w="38100" cap="flat">
              <a:solidFill>
                <a:srgbClr val="4895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0E0E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895EF"/>
              </a:solidFill>
              <a:ln w="9525" cap="flat">
                <a:solidFill>
                  <a:srgbClr val="4895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10%</c:v>
                  </c:pt>
                  <c:pt idx="1">
                    <c:v>15%</c:v>
                  </c:pt>
                  <c:pt idx="2">
                    <c:v>20%</c:v>
                  </c:pt>
                  <c:pt idx="3">
                    <c:v>25%</c:v>
                  </c:pt>
                  <c:pt idx="4">
                    <c:v>30%</c:v>
                  </c:pt>
                  <c:pt idx="5">
                    <c:v>35%</c:v>
                  </c:pt>
                  <c:pt idx="6">
                    <c:v>40%</c:v>
                  </c:pt>
                  <c:pt idx="7">
                    <c:v>45%</c:v>
                  </c:pt>
                  <c:pt idx="8">
                    <c:v>50%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516</c:v>
                </c:pt>
                <c:pt idx="1">
                  <c:v>562</c:v>
                </c:pt>
                <c:pt idx="2">
                  <c:v>607</c:v>
                </c:pt>
                <c:pt idx="3">
                  <c:v>653</c:v>
                </c:pt>
                <c:pt idx="4">
                  <c:v>699</c:v>
                </c:pt>
                <c:pt idx="5">
                  <c:v>745</c:v>
                </c:pt>
                <c:pt idx="6">
                  <c:v>791</c:v>
                </c:pt>
                <c:pt idx="7">
                  <c:v>837</c:v>
                </c:pt>
                <c:pt idx="8">
                  <c:v>883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0E0E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4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Credit Loss Engine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4895E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918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Methodology &amp; Interactive Dashboard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ESSEC Business School — Master in Finance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1887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€699k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ECL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11887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Overlay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11887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Range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1920240" cy="11887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loans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tool does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+ Excel IFRS 9 ECL engine covering PD term structures, stage classification,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scenario stress, and probability-weighted provisioning for European corporate exposures.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2024 Annual Global Default Study (PD calibration)  •  EBA 2025 EU-wide Stress Test (macro scenarios)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/ Foundation IRB (LGD anchors)  •  EBA GL/2017/06 (methodology framework)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available via Streamlit  •  Full source code on GitHub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Stage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ECL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SICR since origination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25603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increase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credit risk (SICR)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560320" cy="25603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ECL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103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Credit-impaired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/ 90+ DPD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899AA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064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899AA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 from IAS 39: </a:t>
            </a:r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requires forward-looking, probability-weighted ECL across multiple macro scenarios — not just incurred losses.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Calibration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S&amp;P Global Ratings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Annual Global Default &amp; Rating Transition Study (March 2025)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→ Marginal PD derivation: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S(t) = 1 − C(t)          Survival probability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fPD(t) = S(t-1) − S(t)   Forward PD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mPD(t) = fPD(t) / S(t-1) Marginal PD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European-specific PDs from Table 25 used as default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PDs from Table 26 available as cross-check)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 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 Cum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CCC/C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S&amp;P Table 25 — European averages, 1981-2024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&amp; EAD Assumptions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Given Default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LGD: 45% (CRR Art. 161, Foundation IRB senior unsecured)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Downturn LGD: 55% (applied under adverse macro scenario)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LGD: 65% (individual assessment for impaired loans)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LGD: 40% (improved recovery in benign conditions)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320040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at Default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loans: EAD constant at outstanding balance until maturity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Amortising loans: EAD declines per French amortisation schedule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Amortisation reduces lifetime ECL by ~45% vs bullet (Phase 2 result)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CCF modelling yet — drawn exposures only (Phase 5 extension)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Classification — SICR Waterfall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13716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 ≥ 90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CRR Art. 178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= D / Bankruptcy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 9 App.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Distressed restructuring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 9 App.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≥ 2 notch downgrade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EBA GL/2017/06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 doubled AND Δ ≥ 50 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 9 B5.5.17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 ≥ 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 9 §5.5.11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 / Forbearance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EBA GL/2017/06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triggers fired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 9 §5.5.5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PD test (row 5): </a:t>
            </a:r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B5.5.17 requires BOTH relative and absolute thresholds to prevent trivial triggers (e.g., PD doubling from 0.01% to 0.02%).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Scenario Overlay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Transition-based stress approach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each scenario, shift every loan's rating by N notches, then re-run staging and ECL: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Adverse (+2 notches):  BBB → BB+,  A- → BBB,  BB → B+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(0 notches):  no change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Upside  (-1 notch):   BBB → BBB+, BB → BB+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EBA stress test methodology (§73-75) and naturally produces non-linear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effects: adverse triggers SICR on currently-performing loans, shifting them to lifetime ECL.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14400"/>
          <a:ext cx="3566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82296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95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Notch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Y1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Y2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Unemp. Y3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Equities Y1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EBA/ESRB 2025 EU-wide stress test macro scenario, January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Probability-Weighted Results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14400"/>
            <a:ext cx="3200400" cy="292608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0058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ECL</a:t>
            </a:r>
            <a:endParaRPr lang="en-US" sz="1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€699,164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Baseline-only ECL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€458,792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Overlay</a:t>
            </a: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+€240,372 (+52.4%)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overlay quantifies the P&amp;L impact of IFRS 9's forward-looking requirement vs IAS 39 incurred-loss.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Engine  |  ESSEC MIF  |  S&amp;P 2024  •  EBA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Model Risk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14400"/>
            <a:ext cx="3200400" cy="292608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0058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range: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€516k → €883k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variation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scenario weights alone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weights are the single most judgmental input in IFRS 9 — and the one ACPR/ECB scrutinise most intensely.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005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Ratings, '2024 Annual Global Corporate Default And Rating Transition Study', March 2025 — Tables 24, 25, 26 (cumulative default rates), Table 20/22 (transition matrices)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5361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EBA/ESRB, 'Macro-financial scenario for the 2025 EU-wide banking sector stress test', January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Anchors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06654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 (EU Regulation 575/2013), Article 161 — Foundation IRB LGD: 45% senior unsecured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5968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 Guidelines GL/2017/06 on credit risk management and ECL accounting; ACPR IFRS 9 notice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1272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Financial Instruments (IASB, July 2014) — §5.5.3-5.5.20 (impairment), §B5.5.1-5.5.55 (application guidance)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 2025 EU-wide stress test results, August 2025 — CET1 depletion, scenario severity benchmarks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9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41879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(NumPy, Matplotlib, Streamlit), Excel (named ranges, VLOOKUP, data tables), pptxgenjs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provenance: see sources.md in the project repository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IFRS 9 ECL Engine — Methodology</dc:title>
  <dc:subject>PptxGenJS Presentation</dc:subject>
  <dc:creator>ESSEC MIF</dc:creator>
  <cp:lastModifiedBy>ESSEC MIF</cp:lastModifiedBy>
  <cp:revision>1</cp:revision>
  <dcterms:created xsi:type="dcterms:W3CDTF">2026-05-11T11:06:23Z</dcterms:created>
  <dcterms:modified xsi:type="dcterms:W3CDTF">2026-05-11T11:06:23Z</dcterms:modified>
</cp:coreProperties>
</file>